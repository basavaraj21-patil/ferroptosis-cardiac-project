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61" r:id="rId5"/>
    <p:sldId id="262" r:id="rId6"/>
    <p:sldId id="257" r:id="rId7"/>
    <p:sldId id="258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E406-2EA0-5599-F87B-91A54C482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80FB6-356B-C1D4-20FC-83E3C0B79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12738-BD8B-ECEF-1D5F-B32F40B3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29AC8-D9AF-CFBB-6804-ECC513F02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D8BFE-FF4C-0F95-57CC-2A57EC52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06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D4ED-0A3A-D162-2C6A-1FCD7955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5724-E147-C78B-BED0-71E54BF7E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F3CC9-A744-5452-007F-A06878BF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F755-A4D9-221B-F9C3-2D2B817E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897F3-3C69-A33D-7070-6478C7030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568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CEE9-0066-214F-7FE5-94E174AF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90D71-FF28-9BEB-EA22-C7D638825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79A7A-B336-8AFD-348F-574479DF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809E-E06E-8C29-AA08-A1C237C6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FAC88-D19F-FC9E-AFC3-5F68FE30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9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AA51-3825-5B11-E68A-E27D2326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30873-4136-CF43-58FB-FE93C159F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0DD77-716F-8C63-9789-AF2EF264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2B3D4-9CCD-23E8-FB57-7A78D62E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44F8B-A6CF-290C-CE3E-31133A0D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4EC39-CA9B-2C44-F619-96AABBF7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36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5547-A850-379B-9F33-26C1BC10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C2FAA-B8F6-9E7A-3735-2F69C5F9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6A9E8-A2DC-02A2-8684-7B5FFFE0A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992EA-C8A0-CF81-4933-94812F667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53501E-8CF9-A63B-8730-F5645880A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0F16F-CD29-5E5A-4C6F-BB37138D5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92BD19-C0CD-88AB-BF53-69FC29A9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6D2B8-0382-6305-2F6C-CDDDA508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069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308A-941D-88ED-0B85-3CC37B601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EFB56-9C15-9F39-426E-9663E6E95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77659-B859-BB11-4894-E29B7519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882A5D-7A5E-7A09-5E56-A3A417F7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21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6BF85-39C2-9232-A13B-8B2993C9F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6797C-2FC0-87ED-4DAA-71DE26CA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9D3B2-C210-A51D-9924-D61C579E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44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87A4-C186-9124-C264-CD0C32012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78AD-3C4C-CF76-4451-1A93646D0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DBE33-CCF6-A53E-BADA-C5F3CC446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4E973-19EA-7826-DA4C-62D2337E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9494F-57F1-6048-4ADD-39406A8A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8091C-D383-DA87-9D84-45E1C60B5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2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BCDF-4141-1BFA-B6A6-B5BB223F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3430D9-4743-E8B2-F2C1-62FA9792D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8545A-25B0-6BF5-3432-EDFDD3450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CF957-0641-5F17-A921-5B8C54A83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682A9-550E-0CED-2379-07F909FC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7376E-D293-B4D3-963E-A9DF0D6F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48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45B5-43FC-046F-5ECD-05E6068A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2FCED-52DC-7F79-D905-9D40AE19C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26823-05B9-BCAB-9AC6-0BFC8F91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B3A-431D-FE95-C838-BA5D9954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52F7A-692C-61DF-37F3-9DA53C42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7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6B4356-1626-1E56-E66F-A041083F6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3537D-F0A3-FC28-1BE5-F1D362172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E8186-86B2-3E62-6437-BAEE985E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9BA57-6262-D857-E632-4518388B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E3965-EF83-A056-4156-56370973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5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AC1AC9-8D4E-CDA7-C382-107AB0B5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FA428-CEC6-B124-EA6F-2D9DC5C5F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6384-6598-59BE-14CF-D3CD24955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8C271-3758-4C75-9896-9D677EDAB2E6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AB0B6-745A-CF01-5E72-A753C93D1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63DA-0B36-2E05-7FBE-1E8609353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37CC7-0600-408D-BB4B-24A5C39D4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05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9BB1-EAF6-33F8-71BE-BBF7C701B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090" y="2396865"/>
            <a:ext cx="10033819" cy="135071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“Transcriptomic Analysis of Ferroptosis-Related Genes in Myocardial Infarction and Heart Failure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en-IN" sz="4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DDAEFE-A876-E401-55DB-6AC2A4717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2" y="126701"/>
            <a:ext cx="4012747" cy="135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8E97CB-AF5D-8408-92B9-685F7842C6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98" t="28090"/>
          <a:stretch>
            <a:fillRect/>
          </a:stretch>
        </p:blipFill>
        <p:spPr bwMode="auto">
          <a:xfrm>
            <a:off x="8046203" y="126701"/>
            <a:ext cx="4312376" cy="79080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2AA87A-EB78-8106-3E38-0073A8B80CBE}"/>
              </a:ext>
            </a:extLst>
          </p:cNvPr>
          <p:cNvSpPr txBox="1"/>
          <p:nvPr/>
        </p:nvSpPr>
        <p:spPr>
          <a:xfrm>
            <a:off x="0" y="4113031"/>
            <a:ext cx="49360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BASAVARAJ RAJENDRA PATIL</a:t>
            </a:r>
          </a:p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(1RV24BBT06)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FD469-A690-DE64-49C4-87740E110BB2}"/>
              </a:ext>
            </a:extLst>
          </p:cNvPr>
          <p:cNvSpPr txBox="1"/>
          <p:nvPr/>
        </p:nvSpPr>
        <p:spPr>
          <a:xfrm>
            <a:off x="7734373" y="4113031"/>
            <a:ext cx="49360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 Dr. Sumathra M 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(Assistant Professor)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118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F451A-D32C-555F-8EB9-BA787D7B7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INTRODUCTION</a:t>
            </a:r>
          </a:p>
          <a:p>
            <a:r>
              <a:rPr lang="en-US" dirty="0"/>
              <a:t>Cardiovascular diseases (CVDs) such as </a:t>
            </a:r>
            <a:r>
              <a:rPr lang="en-US" b="1" dirty="0"/>
              <a:t>myocardial infarction</a:t>
            </a:r>
            <a:r>
              <a:rPr lang="en-US" dirty="0"/>
              <a:t> and </a:t>
            </a:r>
            <a:r>
              <a:rPr lang="en-US" b="1" dirty="0"/>
              <a:t>heart failure</a:t>
            </a:r>
            <a:r>
              <a:rPr lang="en-US" dirty="0"/>
              <a:t> are leading causes of global mortality </a:t>
            </a:r>
          </a:p>
          <a:p>
            <a:r>
              <a:rPr lang="en-US" b="1" dirty="0"/>
              <a:t>Ferroptosis</a:t>
            </a:r>
            <a:r>
              <a:rPr lang="en-US" dirty="0"/>
              <a:t> is an iron-dependent form of regulated cell death associated with lipid peroxidation </a:t>
            </a:r>
          </a:p>
          <a:p>
            <a:r>
              <a:rPr lang="en-US" dirty="0"/>
              <a:t>It plays a crucial role in </a:t>
            </a:r>
            <a:r>
              <a:rPr lang="en-US" b="1" dirty="0"/>
              <a:t>cardiac injury and disease progression</a:t>
            </a:r>
            <a:r>
              <a:rPr lang="en-US" dirty="0"/>
              <a:t> </a:t>
            </a:r>
          </a:p>
          <a:p>
            <a:r>
              <a:rPr lang="en-US" dirty="0"/>
              <a:t>Transcriptomic analysis enables identification of </a:t>
            </a:r>
            <a:r>
              <a:rPr lang="en-US" b="1" dirty="0"/>
              <a:t>differentially expressed genes and molecular mechanisms</a:t>
            </a:r>
            <a:r>
              <a:rPr lang="en-US" dirty="0"/>
              <a:t> </a:t>
            </a:r>
          </a:p>
          <a:p>
            <a:r>
              <a:rPr lang="en-US" dirty="0"/>
              <a:t>Public databases like </a:t>
            </a:r>
            <a:r>
              <a:rPr lang="en-US" b="1" dirty="0"/>
              <a:t>GEO</a:t>
            </a:r>
            <a:r>
              <a:rPr lang="en-US" dirty="0"/>
              <a:t> provide large-scale gene expression datasets for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359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845D-A1C0-31FA-5650-18643A3C3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722671"/>
            <a:ext cx="11346426" cy="6135329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solidFill>
                  <a:srgbClr val="C00000"/>
                </a:solidFill>
              </a:rPr>
              <a:t>PROBLEM STATEMENT</a:t>
            </a:r>
            <a:endParaRPr lang="en-US" b="1" dirty="0">
              <a:solidFill>
                <a:srgbClr val="C00000"/>
              </a:solidFill>
            </a:endParaRPr>
          </a:p>
          <a:p>
            <a:pPr marL="0" indent="0" algn="just">
              <a:buNone/>
            </a:pPr>
            <a:r>
              <a:rPr lang="en-US" dirty="0"/>
              <a:t>Cardiovascular diseases, particularly myocardial infarction and heart failure, are major causes of global mortality. Recent studies have highlighted the role of ferroptosis, an iron-dependent form of regulated cell death, in the progression of these conditions.</a:t>
            </a:r>
          </a:p>
          <a:p>
            <a:pPr marL="0" indent="0" algn="just">
              <a:buNone/>
            </a:pPr>
            <a:r>
              <a:rPr lang="en-US" dirty="0"/>
              <a:t>However, most existing studies focus on individual diseases and rely on limited datasets, leading to inconsistent identification of ferroptosis-related biomarkers.</a:t>
            </a:r>
          </a:p>
          <a:p>
            <a:pPr marL="0" indent="0" algn="just">
              <a:buNone/>
            </a:pPr>
            <a:r>
              <a:rPr lang="en-US" dirty="0"/>
              <a:t>Therefore, there is a need for an integrated transcriptomic analysis using public gene expression datasets to identify common and reliable ferroptosis-related genes in myocardial infarction and heart failure.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55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4B412-184C-79DB-0736-52A69C4E6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763" y="1009548"/>
            <a:ext cx="1123581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Research Gap</a:t>
            </a:r>
          </a:p>
          <a:p>
            <a:r>
              <a:rPr lang="en-US" dirty="0"/>
              <a:t>Most studies analyze myocardial infarction and heart failure separately </a:t>
            </a:r>
          </a:p>
          <a:p>
            <a:r>
              <a:rPr lang="en-US" dirty="0"/>
              <a:t>Lack of integrated transcriptomic analysis across both conditions </a:t>
            </a:r>
          </a:p>
          <a:p>
            <a:r>
              <a:rPr lang="en-US" dirty="0"/>
              <a:t>Limited use of multiple datasets for robust biomarker identification </a:t>
            </a:r>
          </a:p>
          <a:p>
            <a:r>
              <a:rPr lang="en-US" dirty="0"/>
              <a:t>Inconsistent identification of ferroptosis-related genes across studies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6395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774CB62-2698-C677-3C33-82D8F27D28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705899"/>
              </p:ext>
            </p:extLst>
          </p:nvPr>
        </p:nvGraphicFramePr>
        <p:xfrm>
          <a:off x="0" y="0"/>
          <a:ext cx="12481560" cy="69494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120390">
                  <a:extLst>
                    <a:ext uri="{9D8B030D-6E8A-4147-A177-3AD203B41FA5}">
                      <a16:colId xmlns:a16="http://schemas.microsoft.com/office/drawing/2014/main" val="1549443164"/>
                    </a:ext>
                  </a:extLst>
                </a:gridCol>
                <a:gridCol w="3120390">
                  <a:extLst>
                    <a:ext uri="{9D8B030D-6E8A-4147-A177-3AD203B41FA5}">
                      <a16:colId xmlns:a16="http://schemas.microsoft.com/office/drawing/2014/main" val="14694606"/>
                    </a:ext>
                  </a:extLst>
                </a:gridCol>
                <a:gridCol w="3120390">
                  <a:extLst>
                    <a:ext uri="{9D8B030D-6E8A-4147-A177-3AD203B41FA5}">
                      <a16:colId xmlns:a16="http://schemas.microsoft.com/office/drawing/2014/main" val="1040523081"/>
                    </a:ext>
                  </a:extLst>
                </a:gridCol>
                <a:gridCol w="3120390">
                  <a:extLst>
                    <a:ext uri="{9D8B030D-6E8A-4147-A177-3AD203B41FA5}">
                      <a16:colId xmlns:a16="http://schemas.microsoft.com/office/drawing/2014/main" val="2097753561"/>
                    </a:ext>
                  </a:extLst>
                </a:gridCol>
              </a:tblGrid>
              <a:tr h="328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 done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268926"/>
                  </a:ext>
                </a:extLst>
              </a:tr>
              <a:tr h="1066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Liu et al. (Scientific Reports)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Identified ferroptosis-related biomarkers in myocardial infarction using GEO datasets and DEG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Focused only on MI, no cross-disease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570264"/>
                  </a:ext>
                </a:extLst>
              </a:tr>
              <a:tr h="820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Zhang et al. (Heliyon)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Integrated transcriptomic analysis of ferroptosis genes in heart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Studied only HF, no comparison with other cardiac diseases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35331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Wang et al. (Frontiers in Cardiovascular Medicine)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Reviewed role of ferroptosis in cardiovascular diseases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dataset-based integrated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165936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Li et al. (Frontiers in Genetics)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Studied ferroptosis mechanisms in cardiac injury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Focused on mechanism, not biomarker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068704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Zhou et al. (Experimental and Therapeutic Medicine)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Identified ferroptosis genes in ischemic cardiomyopathy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Limited dataset usage, no multi-dataset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004036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Chen et al. (IJMS)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Analyzed ferroptosis genes in coronary heart 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Disease-specific, no integration with MI or HF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041271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Gao et al. (Cell Death &amp; Disease)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Studied ferroptosis pathways in heart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Experimental focus, no transcriptomic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817246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/>
                        <a:t>Xu et al. (BMC Genomics)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Transcriptomic profiling of ferroptosis in 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comparison with other cardiac diseases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7171233"/>
                  </a:ext>
                </a:extLst>
              </a:tr>
              <a:tr h="574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Wu et al. (Genes)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Identified ferroptosis-related genes using bioinformatics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datasets, no cross-validation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823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7500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ED94E-C3CB-C3A5-5505-1E3A74024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76981"/>
            <a:ext cx="11395587" cy="599998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OBJECTIVES</a:t>
            </a:r>
          </a:p>
          <a:p>
            <a:pPr marL="0" indent="0">
              <a:buNone/>
            </a:pPr>
            <a:endParaRPr lang="en-I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Objective 1 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To perform integrated transcriptomic analysis of gene expression datasets from myocardial infarction and heart failure to identify common ferroptosis-related genes.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Objective 2 </a:t>
            </a:r>
          </a:p>
          <a:p>
            <a:r>
              <a:rPr lang="en-US" dirty="0"/>
              <a:t>To identify key ferroptosis-related hub genes and associated biological pathways that are consistently involved in myocardial infarction and heart failure using network-based analysis.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57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9F507-7B72-8607-4D43-9D58F0EA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216310"/>
            <a:ext cx="11690555" cy="648929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</a:rPr>
              <a:t>REFERENCES</a:t>
            </a:r>
          </a:p>
          <a:p>
            <a:r>
              <a:rPr lang="en-US" sz="2400" dirty="0"/>
              <a:t>Liu, X., et al. (2023). Ferroptosis-related biomarkers in myocardial infarction. </a:t>
            </a:r>
            <a:r>
              <a:rPr lang="en-US" sz="2400" i="1" dirty="0"/>
              <a:t>Scientific Reports</a:t>
            </a:r>
            <a:r>
              <a:rPr lang="en-US" sz="2400" dirty="0"/>
              <a:t>, 13, 49336.</a:t>
            </a:r>
          </a:p>
          <a:p>
            <a:r>
              <a:rPr lang="en-US" sz="2400" dirty="0"/>
              <a:t>Wang, H., et al. (2025). Ferroptosis in cardiovascular diseases. </a:t>
            </a:r>
            <a:r>
              <a:rPr lang="en-US" sz="2400" i="1" dirty="0"/>
              <a:t>Frontiers in Cardiovascular Medicine</a:t>
            </a:r>
            <a:r>
              <a:rPr lang="en-US" sz="2400" dirty="0"/>
              <a:t>, 12, 1566782.</a:t>
            </a:r>
          </a:p>
          <a:p>
            <a:r>
              <a:rPr lang="en-US" sz="2400" dirty="0"/>
              <a:t>Li, J., et al. (2023). Role of ferroptosis in cardiac injury. </a:t>
            </a:r>
            <a:r>
              <a:rPr lang="en-US" sz="2400" i="1" dirty="0"/>
              <a:t>Frontiers in Genetics</a:t>
            </a:r>
            <a:r>
              <a:rPr lang="en-US" sz="2400" dirty="0"/>
              <a:t>, 14, 1156789.</a:t>
            </a:r>
          </a:p>
          <a:p>
            <a:r>
              <a:rPr lang="en-US" sz="2400" dirty="0"/>
              <a:t>Zhang, Y., et al. (2024). Integrated analysis of ferroptosis-related genes in heart failure. </a:t>
            </a:r>
            <a:r>
              <a:rPr lang="en-US" sz="2400" i="1" dirty="0" err="1"/>
              <a:t>Heliyon</a:t>
            </a:r>
            <a:r>
              <a:rPr lang="en-US" sz="2400" dirty="0"/>
              <a:t>, 10(5), e17565.</a:t>
            </a:r>
          </a:p>
          <a:p>
            <a:r>
              <a:rPr lang="en-US" sz="2400" dirty="0"/>
              <a:t>Zhou, N., et al. (2024). Ferroptosis in ischemic cardiomyopathy. </a:t>
            </a:r>
            <a:r>
              <a:rPr lang="en-US" sz="2400" i="1" dirty="0"/>
              <a:t>Experimental and Therapeutic Medicine</a:t>
            </a:r>
            <a:r>
              <a:rPr lang="en-US" sz="2400" dirty="0"/>
              <a:t>, 27, 12509.</a:t>
            </a:r>
            <a:endParaRPr lang="en-US" sz="2400" b="1" dirty="0"/>
          </a:p>
          <a:p>
            <a:r>
              <a:rPr lang="en-US" sz="2400" dirty="0"/>
              <a:t>Chen, X., et al. (2025). Ferroptosis-related genes in coronary heart disease. </a:t>
            </a:r>
            <a:r>
              <a:rPr lang="en-US" sz="2400" i="1" dirty="0"/>
              <a:t>International Journal of Molecular Sciences</a:t>
            </a:r>
            <a:r>
              <a:rPr lang="en-US" sz="2400" dirty="0"/>
              <a:t>, 26(3), 1123.</a:t>
            </a:r>
          </a:p>
          <a:p>
            <a:r>
              <a:rPr lang="en-US" sz="2400" dirty="0"/>
              <a:t>Gao, M., et al. (2023). Ferroptosis mechanisms in heart failure. </a:t>
            </a:r>
            <a:r>
              <a:rPr lang="en-US" sz="2400" i="1" dirty="0"/>
              <a:t>Cell Death &amp; Disease</a:t>
            </a:r>
            <a:r>
              <a:rPr lang="en-US" sz="2400" dirty="0"/>
              <a:t>, 14, 102.</a:t>
            </a:r>
          </a:p>
          <a:p>
            <a:r>
              <a:rPr lang="en-US" sz="2400" dirty="0"/>
              <a:t>Xu, S., et al. (2024). Transcriptomic profiling of ferroptosis in myocardial infarction. </a:t>
            </a:r>
            <a:r>
              <a:rPr lang="en-US" sz="2400" i="1" dirty="0"/>
              <a:t>BMC Genomics</a:t>
            </a:r>
            <a:r>
              <a:rPr lang="en-US" sz="2400" dirty="0"/>
              <a:t>, 25, 450.</a:t>
            </a:r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59010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AB440-65FC-369A-7724-EF35AB5A7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en-US" sz="2400" dirty="0"/>
              <a:t>Tang, D., et al. (2022). Ferroptosis: Molecular mechanisms and role in disease. </a:t>
            </a:r>
            <a:r>
              <a:rPr lang="en-US" sz="2400" i="1" dirty="0"/>
              <a:t>Cell</a:t>
            </a:r>
            <a:r>
              <a:rPr lang="en-US" sz="2400" dirty="0"/>
              <a:t>, 185(14), 2401–2421.</a:t>
            </a:r>
          </a:p>
          <a:p>
            <a:r>
              <a:rPr lang="en-US" sz="2400" dirty="0"/>
              <a:t>Stockwell, B. R., et al. (2022). Ferroptosis: Mechanisms, biology, and role in disease. </a:t>
            </a:r>
            <a:r>
              <a:rPr lang="en-US" sz="2400" i="1" dirty="0"/>
              <a:t>Nature Reviews Molecular Cell Biology</a:t>
            </a:r>
            <a:r>
              <a:rPr lang="en-US" sz="2400" dirty="0"/>
              <a:t>, 23, 266–282.</a:t>
            </a:r>
          </a:p>
          <a:p>
            <a:r>
              <a:rPr lang="en-US" sz="2400" dirty="0"/>
              <a:t>Zhou, N., et al. (2020). </a:t>
            </a:r>
            <a:r>
              <a:rPr lang="en-US" sz="2400" dirty="0" err="1"/>
              <a:t>FerrDb</a:t>
            </a:r>
            <a:r>
              <a:rPr lang="en-US" sz="2400" dirty="0"/>
              <a:t>: A database for ferroptosis regulators. </a:t>
            </a:r>
            <a:r>
              <a:rPr lang="en-US" sz="2400" i="1" dirty="0"/>
              <a:t>Nucleic Acids Research</a:t>
            </a:r>
            <a:r>
              <a:rPr lang="en-US" sz="2400" dirty="0"/>
              <a:t>, 48(D1), D1083–D1091.</a:t>
            </a:r>
          </a:p>
          <a:p>
            <a:r>
              <a:rPr lang="en-US" sz="2400" dirty="0"/>
              <a:t>Hu, Z., et al. (2025). Machine learning approaches in ferroptosis research. </a:t>
            </a:r>
            <a:r>
              <a:rPr lang="en-US" sz="2400" i="1" dirty="0"/>
              <a:t>Frontiers in Medicine</a:t>
            </a:r>
            <a:r>
              <a:rPr lang="en-US" sz="2400" dirty="0"/>
              <a:t>, 12, 1541342.</a:t>
            </a:r>
          </a:p>
          <a:p>
            <a:r>
              <a:rPr lang="en-US" sz="2400" dirty="0"/>
              <a:t>Yang, W., et al. (2023). Lipid peroxidation in ferroptosis. </a:t>
            </a:r>
            <a:r>
              <a:rPr lang="en-US" sz="2400" i="1" dirty="0"/>
              <a:t>Trends in Cell Biology</a:t>
            </a:r>
            <a:r>
              <a:rPr lang="en-US" sz="2400" dirty="0"/>
              <a:t>, 33(3), 180–192.</a:t>
            </a:r>
          </a:p>
          <a:p>
            <a:r>
              <a:rPr lang="en-US" sz="2400" dirty="0"/>
              <a:t>Sun, X., et al. (2024). Ferroptosis and cardiovascular diseases. </a:t>
            </a:r>
            <a:r>
              <a:rPr lang="en-US" sz="2400" i="1" dirty="0"/>
              <a:t>Journal of Molecular Medicine</a:t>
            </a:r>
            <a:r>
              <a:rPr lang="en-US" sz="2400" dirty="0"/>
              <a:t>, 102, 345–356.</a:t>
            </a:r>
          </a:p>
          <a:p>
            <a:r>
              <a:rPr lang="en-IN" sz="2400" dirty="0"/>
              <a:t>Lin, R., et al. (2025). Ferroptosis pathways in cardiac </a:t>
            </a:r>
            <a:r>
              <a:rPr lang="en-IN" sz="2400" dirty="0" err="1"/>
              <a:t>remodeling</a:t>
            </a:r>
            <a:r>
              <a:rPr lang="en-IN" sz="2400" dirty="0"/>
              <a:t>. </a:t>
            </a:r>
            <a:r>
              <a:rPr lang="en-IN" sz="2400" i="1" dirty="0" err="1"/>
              <a:t>Biochimica</a:t>
            </a:r>
            <a:r>
              <a:rPr lang="en-IN" sz="2400" i="1" dirty="0"/>
              <a:t> et </a:t>
            </a:r>
            <a:r>
              <a:rPr lang="en-IN" sz="2400" i="1" dirty="0" err="1"/>
              <a:t>Biophysica</a:t>
            </a:r>
            <a:r>
              <a:rPr lang="en-IN" sz="2400" i="1" dirty="0"/>
              <a:t> Acta</a:t>
            </a:r>
            <a:r>
              <a:rPr lang="en-IN" sz="2400" dirty="0"/>
              <a:t>, 1869, 119305.</a:t>
            </a:r>
          </a:p>
          <a:p>
            <a:r>
              <a:rPr lang="en-US" sz="2400" dirty="0"/>
              <a:t>Fang, X., et al. (2022). Ferroptosis as a target for protection against cardiomyopathy. </a:t>
            </a:r>
            <a:r>
              <a:rPr lang="en-US" sz="2400" i="1" dirty="0"/>
              <a:t>Proceedings of the National Academy of Sciences</a:t>
            </a:r>
            <a:r>
              <a:rPr lang="en-US" sz="2400" dirty="0"/>
              <a:t>, 119(24), e2201072119.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70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907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“Transcriptomic Analysis of Ferroptosis-Related Genes in Myocardial Infarction and Heart Failure”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6thBT Basavaraj Patil</dc:creator>
  <cp:lastModifiedBy>6thBT Basavaraj Patil</cp:lastModifiedBy>
  <cp:revision>4</cp:revision>
  <dcterms:created xsi:type="dcterms:W3CDTF">2026-03-26T12:16:57Z</dcterms:created>
  <dcterms:modified xsi:type="dcterms:W3CDTF">2026-04-21T22:35:05Z</dcterms:modified>
</cp:coreProperties>
</file>